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34da5bd9-0ded-0f09-1ed6-a26113c60578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every technician has two hands. One holds the phone. Say 'give me the screwdriver' and let the arm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Shops can't hire their way out. Margins thin, parts getting pricier. Take the screwdriver from the gripper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'take it back', then 'clean up'. Hold up the leader arm on 'Show'.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changed this year. Point at the arm on the second one. Mention the wifi is off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a label printer: cheap hardware, value is what it does every day. ROI line is our assumption; the pilot measures it. Sources: IBISWorld 2025/2026.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'go home'. Stop talking when the arm parks.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BenchBot · La Machine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731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icon glyph"/>
          <p:cNvSpPr txBox="1"/>
          <p:nvPr/>
        </p:nvSpPr>
        <p:spPr>
          <a:xfrm>
            <a:off x="548640" y="731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B</a:t>
            </a:r>
            <a:endParaRPr lang="en-US" sz="208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BenchBot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017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A second pair of hands for the repair bench</a:t>
            </a:r>
            <a:endParaRPr lang="en-US" sz="2000" dirty="0"/>
          </a:p>
        </p:txBody>
      </p:sp>
      <p:sp>
        <p:nvSpPr>
          <p:cNvPr id="6" name="tagline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Teach it by showing. Call it by voice. Runs offline.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repair bench is a one-person factory</a:t>
            </a:r>
            <a:endParaRPr lang="en-US" sz="3200" dirty="0"/>
          </a:p>
        </p:txBody>
      </p:sp>
      <p:sp>
        <p:nvSpPr>
          <p:cNvPr id="3" name="stat"/>
          <p:cNvSpPr txBox="1"/>
          <p:nvPr/>
        </p:nvSpPr>
        <p:spPr>
          <a:xfrm>
            <a:off x="548640" y="1371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chemeClr val="accent1"/>
                </a:solidFill>
              </a:rPr>
              <a:t>45</a:t>
            </a:r>
            <a:endParaRPr lang="en-US" sz="8400" dirty="0"/>
          </a:p>
        </p:txBody>
      </p:sp>
      <p:sp>
        <p:nvSpPr>
          <p:cNvPr id="4" name="stat label"/>
          <p:cNvSpPr txBox="1"/>
          <p:nvPr/>
        </p:nvSpPr>
        <p:spPr>
          <a:xfrm>
            <a:off x="54864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minutes for a typical screen or battery swap</a:t>
            </a:r>
            <a:endParaRPr lang="en-US" sz="1400" dirty="0"/>
          </a:p>
        </p:txBody>
      </p:sp>
      <p:sp>
        <p:nvSpPr>
          <p:cNvPr id="5" name="stat note"/>
          <p:cNvSpPr txBox="1"/>
          <p:nvPr/>
        </p:nvSpPr>
        <p:spPr>
          <a:xfrm>
            <a:off x="548640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Not all of it is repair. One hand does a courier's job all day.</a:t>
            </a:r>
            <a:endParaRPr lang="en-US" sz="1400" dirty="0"/>
          </a:p>
        </p:txBody>
      </p:sp>
      <p:sp>
        <p:nvSpPr>
          <p:cNvPr id="6" name="icon circle"/>
          <p:cNvSpPr/>
          <p:nvPr/>
        </p:nvSpPr>
        <p:spPr>
          <a:xfrm>
            <a:off x="365760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con glyph"/>
          <p:cNvSpPr txBox="1"/>
          <p:nvPr/>
        </p:nvSpPr>
        <p:spPr>
          <a:xfrm>
            <a:off x="36576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1</a:t>
            </a:r>
            <a:endParaRPr lang="en-US" sz="1820" dirty="0"/>
          </a:p>
        </p:txBody>
      </p:sp>
      <p:sp>
        <p:nvSpPr>
          <p:cNvPr id="8" name="row head 0"/>
          <p:cNvSpPr txBox="1"/>
          <p:nvPr/>
        </p:nvSpPr>
        <p:spPr>
          <a:xfrm>
            <a:off x="4480560" y="13533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Fetch</a:t>
            </a:r>
            <a:endParaRPr lang="en-US" sz="1800" dirty="0"/>
          </a:p>
        </p:txBody>
      </p:sp>
      <p:sp>
        <p:nvSpPr>
          <p:cNvPr id="9" name="row desc 0"/>
          <p:cNvSpPr txBox="1"/>
          <p:nvPr/>
        </p:nvSpPr>
        <p:spPr>
          <a:xfrm>
            <a:off x="4480560" y="1673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Walk to the rack, find the right bit, come back. Eyes leave the device.</a:t>
            </a:r>
            <a:endParaRPr lang="en-US" sz="1400" dirty="0"/>
          </a:p>
        </p:txBody>
      </p:sp>
      <p:sp>
        <p:nvSpPr>
          <p:cNvPr id="10" name="icon circle"/>
          <p:cNvSpPr/>
          <p:nvPr/>
        </p:nvSpPr>
        <p:spPr>
          <a:xfrm>
            <a:off x="3657600" y="2423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con glyph"/>
          <p:cNvSpPr txBox="1"/>
          <p:nvPr/>
        </p:nvSpPr>
        <p:spPr>
          <a:xfrm>
            <a:off x="36576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2</a:t>
            </a:r>
            <a:endParaRPr lang="en-US" sz="1820" dirty="0"/>
          </a:p>
        </p:txBody>
      </p:sp>
      <p:sp>
        <p:nvSpPr>
          <p:cNvPr id="12" name="row head 1"/>
          <p:cNvSpPr txBox="1"/>
          <p:nvPr/>
        </p:nvSpPr>
        <p:spPr>
          <a:xfrm>
            <a:off x="4480560" y="2404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Return</a:t>
            </a:r>
            <a:endParaRPr lang="en-US" sz="1800" dirty="0"/>
          </a:p>
        </p:txBody>
      </p:sp>
      <p:sp>
        <p:nvSpPr>
          <p:cNvPr id="13" name="row desc 1"/>
          <p:cNvSpPr txBox="1"/>
          <p:nvPr/>
        </p:nvSpPr>
        <p:spPr>
          <a:xfrm>
            <a:off x="4480560" y="27249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Put it down somewhere. Lose it. Look for it on the next job.</a:t>
            </a:r>
            <a:endParaRPr lang="en-US" sz="1400" dirty="0"/>
          </a:p>
        </p:txBody>
      </p:sp>
      <p:sp>
        <p:nvSpPr>
          <p:cNvPr id="14" name="icon circle"/>
          <p:cNvSpPr/>
          <p:nvPr/>
        </p:nvSpPr>
        <p:spPr>
          <a:xfrm>
            <a:off x="3657600" y="34747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icon glyph"/>
          <p:cNvSpPr txBox="1"/>
          <p:nvPr/>
        </p:nvSpPr>
        <p:spPr>
          <a:xfrm>
            <a:off x="36576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3</a:t>
            </a:r>
            <a:endParaRPr lang="en-US" sz="1820" dirty="0"/>
          </a:p>
        </p:txBody>
      </p:sp>
      <p:sp>
        <p:nvSpPr>
          <p:cNvPr id="16" name="row head 2"/>
          <p:cNvSpPr txBox="1"/>
          <p:nvPr/>
        </p:nvSpPr>
        <p:spPr>
          <a:xfrm>
            <a:off x="448056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</a:t>
            </a:r>
            <a:endParaRPr lang="en-US" sz="1800" dirty="0"/>
          </a:p>
        </p:txBody>
      </p:sp>
      <p:sp>
        <p:nvSpPr>
          <p:cNvPr id="17" name="row desc 2"/>
          <p:cNvSpPr txBox="1"/>
          <p:nvPr/>
        </p:nvSpPr>
        <p:spPr>
          <a:xfrm>
            <a:off x="4480560" y="3776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Clear screws, swarf and adhesive before the next phone can go down.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Show it once. Name it. Say it.</a:t>
            </a:r>
            <a:endParaRPr lang="en-US" sz="3200" dirty="0"/>
          </a:p>
        </p:txBody>
      </p:sp>
      <p:sp>
        <p:nvSpPr>
          <p:cNvPr id="3" name="card 0"/>
          <p:cNvSpPr/>
          <p:nvPr/>
        </p:nvSpPr>
        <p:spPr>
          <a:xfrm>
            <a:off x="548640" y="137160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con glyph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1</a:t>
            </a:r>
            <a:endParaRPr lang="en-US" sz="1560" dirty="0"/>
          </a:p>
        </p:txBody>
      </p:sp>
      <p:sp>
        <p:nvSpPr>
          <p:cNvPr id="6" name="step head 0"/>
          <p:cNvSpPr txBox="1"/>
          <p:nvPr/>
        </p:nvSpPr>
        <p:spPr>
          <a:xfrm>
            <a:off x="146304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Show</a:t>
            </a:r>
            <a:endParaRPr lang="en-US" sz="2200" dirty="0"/>
          </a:p>
        </p:txBody>
      </p:sp>
      <p:sp>
        <p:nvSpPr>
          <p:cNvPr id="7" name="step desc 0"/>
          <p:cNvSpPr txBox="1"/>
          <p:nvPr/>
        </p:nvSpPr>
        <p:spPr>
          <a:xfrm>
            <a:off x="777240" y="2286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Grab the leader arm and do the motion once. The follower mirrors and records every joint at 30 Hz.</a:t>
            </a:r>
            <a:endParaRPr lang="en-US" sz="1300" dirty="0"/>
          </a:p>
        </p:txBody>
      </p:sp>
      <p:sp>
        <p:nvSpPr>
          <p:cNvPr id="8" name="card 1"/>
          <p:cNvSpPr/>
          <p:nvPr/>
        </p:nvSpPr>
        <p:spPr>
          <a:xfrm>
            <a:off x="3291840" y="137160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con glyph"/>
          <p:cNvSpPr txBox="1"/>
          <p:nvPr/>
        </p:nvSpPr>
        <p:spPr>
          <a:xfrm>
            <a:off x="3520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2</a:t>
            </a:r>
            <a:endParaRPr lang="en-US" sz="1560" dirty="0"/>
          </a:p>
        </p:txBody>
      </p:sp>
      <p:sp>
        <p:nvSpPr>
          <p:cNvPr id="11" name="step head 1"/>
          <p:cNvSpPr txBox="1"/>
          <p:nvPr/>
        </p:nvSpPr>
        <p:spPr>
          <a:xfrm>
            <a:off x="420624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Name</a:t>
            </a:r>
            <a:endParaRPr lang="en-US" sz="2200" dirty="0"/>
          </a:p>
        </p:txBody>
      </p:sp>
      <p:sp>
        <p:nvSpPr>
          <p:cNvPr id="12" name="step desc 1"/>
          <p:cNvSpPr txBox="1"/>
          <p:nvPr/>
        </p:nvSpPr>
        <p:spPr>
          <a:xfrm>
            <a:off x="3520440" y="2286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Call it "screwdriver", "take it back", "clean up". Chain them into routines.</a:t>
            </a:r>
            <a:endParaRPr lang="en-US" sz="1300" dirty="0"/>
          </a:p>
        </p:txBody>
      </p:sp>
      <p:sp>
        <p:nvSpPr>
          <p:cNvPr id="13" name="card 2"/>
          <p:cNvSpPr/>
          <p:nvPr/>
        </p:nvSpPr>
        <p:spPr>
          <a:xfrm>
            <a:off x="6035040" y="137160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62636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icon glyph"/>
          <p:cNvSpPr txBox="1"/>
          <p:nvPr/>
        </p:nvSpPr>
        <p:spPr>
          <a:xfrm>
            <a:off x="6263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chemeClr val="bg1"/>
                </a:solidFill>
              </a:rPr>
              <a:t>3</a:t>
            </a:r>
            <a:endParaRPr lang="en-US" sz="1560" dirty="0"/>
          </a:p>
        </p:txBody>
      </p:sp>
      <p:sp>
        <p:nvSpPr>
          <p:cNvPr id="16" name="step head 2"/>
          <p:cNvSpPr txBox="1"/>
          <p:nvPr/>
        </p:nvSpPr>
        <p:spPr>
          <a:xfrm>
            <a:off x="694944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Say</a:t>
            </a:r>
            <a:endParaRPr lang="en-US" sz="2200" dirty="0"/>
          </a:p>
        </p:txBody>
      </p:sp>
      <p:sp>
        <p:nvSpPr>
          <p:cNvPr id="17" name="step desc 2"/>
          <p:cNvSpPr txBox="1"/>
          <p:nvPr/>
        </p:nvSpPr>
        <p:spPr>
          <a:xfrm>
            <a:off x="6263640" y="2286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Local speech on the laptop matches your words to a skill and replays it. Say "stop" and it stops.</a:t>
            </a:r>
            <a:endParaRPr lang="en-US" sz="1300" dirty="0"/>
          </a:p>
        </p:txBody>
      </p:sp>
      <p:sp>
        <p:nvSpPr>
          <p:cNvPr id="18" name="product note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code. No training run. No cloud.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shop owner adds a new tool in ninety seconds, and the whole thing runs with the wifi off.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this works in 2026 and didn't in 2022</a:t>
            </a:r>
            <a:endParaRPr lang="en-US" sz="3200" dirty="0"/>
          </a:p>
        </p:txBody>
      </p:sp>
      <p:sp>
        <p:nvSpPr>
          <p:cNvPr id="3" name="icon circle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icon glyph"/>
          <p:cNvSpPr txBox="1"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§</a:t>
            </a:r>
            <a:endParaRPr lang="en-US" sz="1820" dirty="0"/>
          </a:p>
        </p:txBody>
      </p:sp>
      <p:sp>
        <p:nvSpPr>
          <p:cNvPr id="5" name="now head 0"/>
          <p:cNvSpPr txBox="1"/>
          <p:nvPr/>
        </p:nvSpPr>
        <p:spPr>
          <a:xfrm>
            <a:off x="54864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Right to Repair</a:t>
            </a:r>
            <a:endParaRPr lang="en-US" sz="2000" dirty="0"/>
          </a:p>
        </p:txBody>
      </p:sp>
      <p:sp>
        <p:nvSpPr>
          <p:cNvPr id="6" name="now desc 0"/>
          <p:cNvSpPr txBox="1"/>
          <p:nvPr/>
        </p:nvSpPr>
        <p:spPr>
          <a:xfrm>
            <a:off x="548640" y="26974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EU directive applies since 31 July 2026. Manuals, parts pricing, longer warranties. More repairs, more benches.</a:t>
            </a:r>
            <a:endParaRPr lang="en-US" sz="1400" dirty="0"/>
          </a:p>
        </p:txBody>
      </p:sp>
      <p:sp>
        <p:nvSpPr>
          <p:cNvPr id="7" name="icon circle"/>
          <p:cNvSpPr/>
          <p:nvPr/>
        </p:nvSpPr>
        <p:spPr>
          <a:xfrm>
            <a:off x="329184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icon glyph"/>
          <p:cNvSpPr txBox="1"/>
          <p:nvPr/>
        </p:nvSpPr>
        <p:spPr>
          <a:xfrm>
            <a:off x="32918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€</a:t>
            </a:r>
            <a:endParaRPr lang="en-US" sz="1820" dirty="0"/>
          </a:p>
        </p:txBody>
      </p:sp>
      <p:sp>
        <p:nvSpPr>
          <p:cNvPr id="9" name="now head 1"/>
          <p:cNvSpPr txBox="1"/>
          <p:nvPr/>
        </p:nvSpPr>
        <p:spPr>
          <a:xfrm>
            <a:off x="329184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€25k → €250</a:t>
            </a:r>
            <a:endParaRPr lang="en-US" sz="2000" dirty="0"/>
          </a:p>
        </p:txBody>
      </p:sp>
      <p:sp>
        <p:nvSpPr>
          <p:cNvPr id="10" name="now desc 1"/>
          <p:cNvSpPr txBox="1"/>
          <p:nvPr/>
        </p:nvSpPr>
        <p:spPr>
          <a:xfrm>
            <a:off x="3291840" y="26974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6-axis arm with a leader controller is now hobby-kit money (Hugging Face SO-101). Hardware stops being the business.</a:t>
            </a:r>
            <a:endParaRPr lang="en-US" sz="1400" dirty="0"/>
          </a:p>
        </p:txBody>
      </p:sp>
      <p:sp>
        <p:nvSpPr>
          <p:cNvPr id="11" name="icon circle"/>
          <p:cNvSpPr/>
          <p:nvPr/>
        </p:nvSpPr>
        <p:spPr>
          <a:xfrm>
            <a:off x="603504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icon glyph"/>
          <p:cNvSpPr txBox="1"/>
          <p:nvPr/>
        </p:nvSpPr>
        <p:spPr>
          <a:xfrm>
            <a:off x="60350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chemeClr val="bg1"/>
                </a:solidFill>
              </a:rPr>
              <a:t>))</a:t>
            </a:r>
            <a:endParaRPr lang="en-US" sz="1820" dirty="0"/>
          </a:p>
        </p:txBody>
      </p:sp>
      <p:sp>
        <p:nvSpPr>
          <p:cNvPr id="13" name="now head 2"/>
          <p:cNvSpPr txBox="1"/>
          <p:nvPr/>
        </p:nvSpPr>
        <p:spPr>
          <a:xfrm>
            <a:off x="603504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Speech, offline</a:t>
            </a:r>
            <a:endParaRPr lang="en-US" sz="2000" dirty="0"/>
          </a:p>
        </p:txBody>
      </p:sp>
      <p:sp>
        <p:nvSpPr>
          <p:cNvPr id="14" name="now desc 2"/>
          <p:cNvSpPr txBox="1"/>
          <p:nvPr/>
        </p:nvSpPr>
        <p:spPr>
          <a:xfrm>
            <a:off x="6035040" y="26974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Whisper-class recognition runs on a laptop CPU. A ten-word vocabulary needs no server and no account.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We sell the bench, not the robot</a:t>
            </a:r>
            <a:endParaRPr lang="en-US" sz="3200" dirty="0"/>
          </a:p>
        </p:txBody>
      </p:sp>
      <p:sp>
        <p:nvSpPr>
          <p:cNvPr id="3" name="roi card"/>
          <p:cNvSpPr/>
          <p:nvPr/>
        </p:nvSpPr>
        <p:spPr>
          <a:xfrm>
            <a:off x="548640" y="1325880"/>
            <a:ext cx="3749040" cy="320040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roi stat"/>
          <p:cNvSpPr txBox="1"/>
          <p:nvPr/>
        </p:nvSpPr>
        <p:spPr>
          <a:xfrm>
            <a:off x="822960" y="1508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~€750</a:t>
            </a:r>
            <a:endParaRPr lang="en-US" sz="5400" dirty="0"/>
          </a:p>
        </p:txBody>
      </p:sp>
      <p:sp>
        <p:nvSpPr>
          <p:cNvPr id="5" name="roi label"/>
          <p:cNvSpPr txBox="1"/>
          <p:nvPr/>
        </p:nvSpPr>
        <p:spPr>
          <a:xfrm>
            <a:off x="82296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technician time saved per bench, per month</a:t>
            </a:r>
            <a:endParaRPr lang="en-US" sz="1400" dirty="0"/>
          </a:p>
        </p:txBody>
      </p:sp>
      <p:sp>
        <p:nvSpPr>
          <p:cNvPr id="6" name="roi lines"/>
          <p:cNvSpPr txBox="1"/>
          <p:nvPr/>
        </p:nvSpPr>
        <p:spPr>
          <a:xfrm>
            <a:off x="822960" y="2880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8 min saved × 10 repairs/day × €26/h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Hardware + fixture ≈ €600 to build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Subscription for the skill library</a:t>
            </a:r>
            <a:endParaRPr lang="en-US" sz="1300" dirty="0"/>
          </a:p>
        </p:txBody>
      </p:sp>
      <p:sp>
        <p:nvSpPr>
          <p:cNvPr id="7" name="wedge label"/>
          <p:cNvSpPr txBox="1"/>
          <p:nvPr/>
        </p:nvSpPr>
        <p:spPr>
          <a:xfrm>
            <a:off x="466344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Wedge</a:t>
            </a:r>
            <a:endParaRPr lang="en-US" sz="1200" dirty="0"/>
          </a:p>
        </p:txBody>
      </p:sp>
      <p:sp>
        <p:nvSpPr>
          <p:cNvPr id="8" name="wedge text"/>
          <p:cNvSpPr txBox="1"/>
          <p:nvPr/>
        </p:nvSpPr>
        <p:spPr>
          <a:xfrm>
            <a:off x="4663440" y="16459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Phone &amp; laptop repair.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Standardised work, shops everywhere. Europe consumer electronics repair ≈ €2.9bn; UK mobile repair alone ≈ £690m across ~640 businesses.</a:t>
            </a:r>
            <a:endParaRPr lang="en-US" sz="1400" dirty="0"/>
          </a:p>
        </p:txBody>
      </p:sp>
      <p:sp>
        <p:nvSpPr>
          <p:cNvPr id="9" name="expand label"/>
          <p:cNvSpPr txBox="1"/>
          <p:nvPr/>
        </p:nvSpPr>
        <p:spPr>
          <a:xfrm>
            <a:off x="466344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Then any bench</a:t>
            </a:r>
            <a:endParaRPr lang="en-US" sz="1200" dirty="0"/>
          </a:p>
        </p:txBody>
      </p:sp>
      <p:sp>
        <p:nvSpPr>
          <p:cNvPr id="10" name="expand text"/>
          <p:cNvSpPr txBox="1"/>
          <p:nvPr/>
        </p:nvSpPr>
        <p:spPr>
          <a:xfrm>
            <a:off x="4663440" y="32004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Watch repair · dental labs · electronics assembly · bike shops · teaching labs.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Every recorded skill joins a shared catalog. The arm is the first app; the library is the company.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One arm. Three skills. No internet.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Next: ten repair shops in Amsterdam, three months, minutes saved per repair measured on the bench.</a:t>
            </a:r>
            <a:endParaRPr lang="en-US" sz="2000" dirty="0"/>
          </a:p>
        </p:txBody>
      </p:sp>
      <p:sp>
        <p:nvSpPr>
          <p:cNvPr id="4" name="cue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Say "go home". Let it park.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chBot">
  <a:themeElements>
    <a:clrScheme name="BenchBot">
      <a:dk1>
        <a:srgbClr val="1B1D21"/>
      </a:dk1>
      <a:lt1>
        <a:srgbClr val="FFFFFF"/>
      </a:lt1>
      <a:dk2>
        <a:srgbClr val="2E3238"/>
      </a:dk2>
      <a:lt2>
        <a:srgbClr val="EEF0F2"/>
      </a:lt2>
      <a:accent1>
        <a:srgbClr val="F26B1D"/>
      </a:accent1>
      <a:accent2>
        <a:srgbClr val="8A94A3"/>
      </a:accent2>
      <a:accent3>
        <a:srgbClr val="C8CED6"/>
      </a:accent3>
      <a:accent4>
        <a:srgbClr val="F2A05A"/>
      </a:accent4>
      <a:accent5>
        <a:srgbClr val="4A5260"/>
      </a:accent5>
      <a:accent6>
        <a:srgbClr val="9DA6B3"/>
      </a:accent6>
      <a:hlink>
        <a:srgbClr val="F26B1D"/>
      </a:hlink>
      <a:folHlink>
        <a:srgbClr val="8A94A3"/>
      </a:folHlink>
    </a:clrScheme>
    <a:fontScheme name="BenchB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BenchBot pitch</dc:title>
  <dc:subject>PptxGenJS Presentation</dc:subject>
  <dc:creator>PptxGenJS</dc:creator>
  <cp:lastModifiedBy>PptxGenJS</cp:lastModifiedBy>
  <cp:revision>1</cp:revision>
  <dcterms:created xsi:type="dcterms:W3CDTF">2026-10-03T12:04:39Z</dcterms:created>
  <dcterms:modified xsi:type="dcterms:W3CDTF">2026-10-03T12:04:39Z</dcterms:modified>
</cp:coreProperties>
</file>